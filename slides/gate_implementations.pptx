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8A"/>
                </a:solidFill>
              </a:rPr>
              <a:t>Implementing gates on superconducting qubits (transmons)</a:t>
            </a:r>
          </a:p>
          <a:p>
            <a:r>
              <a:rPr sz="1500" i="1">
                <a:solidFill>
                  <a:srgbClr val="374151"/>
                </a:solidFill>
              </a:rPr>
              <a:t>Pauli X/Y/Z, Hadamard, and a two-qubit gate (CZ / CNOT)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B603B"/>
                </a:solidFill>
              </a:rPr>
              <a:t>Single-qubit gates — resonant microwave drive (Rabi)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F3A8A"/>
                </a:solidFill>
              </a:rPr>
              <a:t>Qubit = anharmonic LC circuit (transmon); levels |0⟩,|1⟩ set by a microwave drive at ω₀₁.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X, Y (π rotations): a shaped, resonant microwave π-pulse drives Rabi flopping; the rotation axis in the x–y plane is chosen by the drive phase (I/Q). Y is X phase-shifted by 90°.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Z (phase gate): usually a “virtual-Z” — a zero-duration software frame/phase shift of subsequent pulses; alternatively a temporary frequency detuning (flux).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Hadamard: not native; compiled from the basis {R_z, √X (SX)}, e.g. H = R_z(π/2)·SX·R_z(π/2) (equivalently a π rotation about the (x+z)/√2 axis).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B603B"/>
                </a:solidFill>
              </a:rPr>
              <a:t>Two-qubit gate — a tunable interaction imprints a conditional phase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CZ: flux-tune a qubit (or a tunable coupler) to bring |11⟩ ↔ |02⟩ to an avoided crossing; the conditional π phase realizes controlled-Z.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CNOT: cross-resonance — drive the control qubit at the target's frequency to generate a ZX interaction; an echoed CR pulse plus single-qubit corrections yields CNOT (also CNOT = H·CZ·H).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Typical durations: single-qubit ~10–50 ns, two-qubit ~40–300 ns; fidelity limited by T₁/T₂ decoherence and leakage to |2⟩.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8A"/>
                </a:solidFill>
              </a:rPr>
              <a:t>Implementing gates on neutral atoms (Rydberg arrays)</a:t>
            </a:r>
          </a:p>
          <a:p>
            <a:r>
              <a:rPr sz="1500" i="1">
                <a:solidFill>
                  <a:srgbClr val="374151"/>
                </a:solidFill>
              </a:rPr>
              <a:t>Qubits = two hyperfine ground states of atoms trapped in optical tweezers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B603B"/>
                </a:solidFill>
              </a:rPr>
              <a:t>Single-qubit gates — resonant Rabi rotations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F3A8A"/>
                </a:solidFill>
              </a:rPr>
              <a:t>Drive the hyperfine qubit transition with a global microwave field, or with a two-photon optical Raman pair.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X, Y (π rotations): resonant π-pulse; axis set by the drive phase, exactly as for superconducting qubits.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Z: detuning or a laser light-shift on the target atom (can be virtual/software).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Hadamard: a π/2 rotation (composition of resonant pulses).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Site-resolved single-qubit gates use tightly focused addressing (light-shift) beams to pick out target atoms.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B603B"/>
                </a:solidFill>
              </a:rPr>
              <a:t>Two-qubit CZ — the Rydberg blockade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Excite atoms from |1⟩ to a high-lying Rydberg state |r⟩ with lasers; two nearby Rydberg atoms interact strongly (van der Waals).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Within the blockade radius R_b, this interaction forbids simultaneous double excitation — the conditional shift realizes CZ (e.g. the Jaksch π–2π–π sequence, or the global two-pulse Levine–Pichler CZ). CNOT = H·CZ·H on the target.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11111"/>
                </a:solidFill>
              </a:rPr>
              <a:t>Features: identical qubits, long coherence, reconfigurable connectivity (atoms can be moved); gate times ~ hundreds of ns; Rydberg-state decay is a key error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8A"/>
                </a:solidFill>
              </a:rPr>
              <a:t>At a glance: same principles, different hardware knobs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617720"/>
                <a:gridCol w="4617720"/>
              </a:tblGrid>
              <a:tr h="658368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F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Superconducting (transmon)</a:t>
                      </a:r>
                    </a:p>
                  </a:txBody>
                  <a:tcPr>
                    <a:solidFill>
                      <a:srgbClr val="1F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Neutral atom (Rydberg)</a:t>
                      </a:r>
                    </a:p>
                  </a:txBody>
                  <a:tcPr>
                    <a:solidFill>
                      <a:srgbClr val="1F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8A"/>
                          </a:solidFill>
                        </a:rPr>
                        <a:t>X,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Resonant microwave π-pulse; axis by drive 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Resonant microwave/Raman π-pulse; axis by phase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8A"/>
                          </a:solidFill>
                        </a:rPr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Virtual-Z (software) or flux detuning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Detuning / light shift (can be virtual)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8A"/>
                          </a:solidFill>
                        </a:rPr>
                        <a:t>Hadamard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Compiled: R_z(π/2)·SX·R_z(π/2)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π/2 pulse (composition of rotations)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8A"/>
                          </a:solidFill>
                        </a:rPr>
                        <a:t>Two-qubit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CZ via flux/tunable coupler; CNOT via cross-resonance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CZ via Rydberg blockade; CNOT = H·CZ·H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1F3A8A"/>
                </a:solidFill>
              </a:rPr>
              <a:t>Common thread — single-qubit gates: a resonant drive produces Rabi rotations; phase sets the axis (X vs Y), detuning/frame sets Z.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F3A8A"/>
                </a:solidFill>
              </a:rPr>
              <a:t>Common thread — two-qubit gates: a tunable interaction (avoided crossing, cross-resonance, or Rydberg blockade) imprints a conditional phase, from which CZ/CNOT follow.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