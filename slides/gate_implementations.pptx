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8A"/>
                </a:solidFill>
              </a:rPr>
              <a:t>Implementing gates on superconducting qubits (transmons)</a:t>
            </a:r>
          </a:p>
          <a:p>
            <a:r>
              <a:rPr sz="1400" i="1">
                <a:solidFill>
                  <a:srgbClr val="374151"/>
                </a:solidFill>
              </a:rPr>
              <a:t>Pauli X/Y/Z, Hadamard, and a two-qubit gate (CZ / CNOT)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603B"/>
                </a:solidFill>
              </a:rPr>
              <a:t>Single-qubit gates — resonant microwave drive (Rabi)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27632"/>
            <a:ext cx="6583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A8A"/>
                </a:solidFill>
              </a:rPr>
              <a:t>Qubit = anharmonic LC circuit (transmon); a microwave drive at ω₀₁ addresses |0⟩↔|1⟩.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X, Y: a resonant π-pulse drives Rabi flopping; the rotation axis is set by the drive phase (I/Q). Y is X phase-shifted 90°.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Z: virtual-Z — a zero-duration software phase shift of later pulses (or a brief flux detuning).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Hadamard: compiled from {R_z, √X}, e.g. H = R_z(π/2)·SX·R_z(π/2).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476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603B"/>
                </a:solidFill>
              </a:rPr>
              <a:t>Two-qubit gate — a tunable interaction gives a conditional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CZ: flux-tune |11⟩↔|02⟩ to an avoided crossing; the conditional π phase realizes controlled-Z.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CNOT: cross-resonance (drive control at target's frequency) → ZX interaction; also CNOT = H·CZ·H.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Times ~10–50 ns (1q), ~40–300 ns (2q); limited by T₁/T₂ and leakage to |2⟩.</a:t>
            </a:r>
          </a:p>
        </p:txBody>
      </p:sp>
      <p:pic>
        <p:nvPicPr>
          <p:cNvPr id="7" name="Picture 6" descr="sc_1qu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572000" cy="2286000"/>
          </a:xfrm>
          <a:prstGeom prst="rect">
            <a:avLst/>
          </a:prstGeom>
        </p:spPr>
      </p:pic>
      <p:pic>
        <p:nvPicPr>
          <p:cNvPr id="8" name="Picture 7" descr="sc_2qu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794760"/>
            <a:ext cx="4572000" cy="28420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8A"/>
                </a:solidFill>
              </a:rPr>
              <a:t>Implementing gates on neutral atoms (Rydberg arrays)</a:t>
            </a:r>
          </a:p>
          <a:p>
            <a:r>
              <a:rPr sz="1400" i="1">
                <a:solidFill>
                  <a:srgbClr val="374151"/>
                </a:solidFill>
              </a:rPr>
              <a:t>Qubits = two hyperfine ground states of atoms in optical tweezers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603B"/>
                </a:solidFill>
              </a:rPr>
              <a:t>Single-qubit gates — resonant Rabi rotations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27632"/>
            <a:ext cx="6583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A8A"/>
                </a:solidFill>
              </a:rPr>
              <a:t>Drive the hyperfine qubit with a global microwave field or a two-photon optical Raman pair.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X, Y: resonant π-pulse, axis set by the drive phase (as for transmons); Z by detuning / light shift.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Hadamard: a π/2 rotation (composition of resonant pulses).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Site-resolved gates use tightly focused addressing (light-shift) beams.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476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603B"/>
                </a:solidFill>
              </a:rPr>
              <a:t>Two-qubit CZ — the Rydberg blockade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Excite |1⟩→|r⟩ (high-lying Rydberg); nearby Rydberg atoms interact strongly (van der Waals).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Within blockade radius R_b, double excitation is forbidden — the conditional shift gives CZ (Jaksch π–2π–π, or global Levine–Pichler). CNOT = H·CZ·H.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</a:rPr>
              <a:t>Identical qubits, long coherence, movable/reconfigurable connectivity; ~hundreds of ns; Rydberg decay is a key error.</a:t>
            </a:r>
          </a:p>
        </p:txBody>
      </p:sp>
      <p:pic>
        <p:nvPicPr>
          <p:cNvPr id="7" name="Picture 6" descr="na_1qu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572000" cy="2306688"/>
          </a:xfrm>
          <a:prstGeom prst="rect">
            <a:avLst/>
          </a:prstGeom>
        </p:spPr>
      </p:pic>
      <p:pic>
        <p:nvPicPr>
          <p:cNvPr id="8" name="Picture 7" descr="na_2qu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794760"/>
            <a:ext cx="4572000" cy="26342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8A"/>
                </a:solidFill>
              </a:rPr>
              <a:t>At a glance: same principles, different hardware knobs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617720"/>
                <a:gridCol w="4617720"/>
              </a:tblGrid>
              <a:tr h="658368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Superconducting (transmon)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Neutral atom (Rydberg)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X,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Resonant microwave π-pulse; axis by drive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Resonant microwave/Raman π-pulse; axis by phase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Virtual-Z (software) or flux detuning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Detuning / light shift (can be virtual)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Hadamard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Compiled: R_z(π/2)·SX·R_z(π/2)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π/2 pulse (composition of rotations)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Two-qubit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CZ via flux/tunable coupler; CNOT via cross-resonance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CZ via Rydberg blockade; CNOT = H·CZ·H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1F3A8A"/>
                </a:solidFill>
              </a:rPr>
              <a:t>Common thread — single-qubit: a resonant drive gives Rabi rotations; phase sets the axis (X vs Y), detuning/frame sets Z.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F3A8A"/>
                </a:solidFill>
              </a:rPr>
              <a:t>Common thread — two-qubit: a tunable interaction (avoided crossing, cross-resonance, or Rydberg blockade) imprints a conditional phase → CZ/CNOT.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